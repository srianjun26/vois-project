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2" d="100"/>
          <a:sy n="72" d="100"/>
        </p:scale>
        <p:origin x="576"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15-Sep-26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15-Sep-26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15-Sep-26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15-Sep-26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15-Sep-26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15-Sep-26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15-Sep-26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rianjun26"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431235" y="3583914"/>
            <a:ext cx="3657600" cy="861497"/>
          </a:xfrm>
        </p:spPr>
        <p:txBody>
          <a:bodyPr vert="horz" lIns="91440" tIns="45720" rIns="91440" bIns="45720" rtlCol="0" anchor="t">
            <a:normAutofit fontScale="85000" lnSpcReduction="10000"/>
          </a:bodyPr>
          <a:lstStyle/>
          <a:p>
            <a:pPr algn="ctr"/>
            <a:r>
              <a:rPr lang="en-US" b="0" dirty="0" smtClean="0">
                <a:solidFill>
                  <a:schemeClr val="tx1"/>
                </a:solidFill>
              </a:rPr>
              <a:t>MADIPOJU SRIANJUN</a:t>
            </a:r>
            <a:r>
              <a:rPr lang="en-US" b="0" dirty="0" smtClean="0">
                <a:solidFill>
                  <a:schemeClr val="tx1"/>
                </a:solidFill>
              </a:rPr>
              <a:t> </a:t>
            </a:r>
            <a:endParaRPr lang="en-IN" b="0" dirty="0">
              <a:solidFill>
                <a:schemeClr val="tx1"/>
              </a:solidFill>
            </a:endParaRPr>
          </a:p>
          <a:p>
            <a:pPr algn="r"/>
            <a:r>
              <a:rPr lang="en-US" b="0" dirty="0" smtClean="0">
                <a:solidFill>
                  <a:schemeClr val="tx1"/>
                </a:solidFill>
              </a:rPr>
              <a:t>VAAGDEVI ENGINEERING COLLEGE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10095653" cy="743448"/>
          </a:xfrm>
        </p:spPr>
        <p:txBody>
          <a:bodyPr>
            <a:normAutofit fontScale="90000"/>
          </a:bodyPr>
          <a:lstStyle/>
          <a:p>
            <a:r>
              <a:rPr lang="en-GB" sz="3200" dirty="0"/>
              <a:t>Project Title </a:t>
            </a:r>
            <a:r>
              <a:rPr lang="en-GB" sz="3200" dirty="0" smtClean="0"/>
              <a:t>-</a:t>
            </a:r>
            <a:r>
              <a:rPr lang="en-US" sz="3200" b="1" dirty="0"/>
              <a:t>Seasonal Agriculture Performance Analysis:</a:t>
            </a:r>
            <a:br>
              <a:rPr lang="en-US" sz="3200" b="1"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129684" y="4538244"/>
            <a:ext cx="3959151" cy="646331"/>
          </a:xfrm>
          <a:prstGeom prst="rect">
            <a:avLst/>
          </a:prstGeom>
          <a:noFill/>
        </p:spPr>
        <p:txBody>
          <a:bodyPr wrap="square" rtlCol="0">
            <a:spAutoFit/>
          </a:bodyPr>
          <a:lstStyle/>
          <a:p>
            <a:r>
              <a:rPr lang="en-US" b="1" dirty="0"/>
              <a:t>AICTE STU </a:t>
            </a:r>
            <a:r>
              <a:rPr lang="en-US" b="1" dirty="0"/>
              <a:t>ID: STU67f7d4b15a5481744295089</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170069" y="129352"/>
            <a:ext cx="6276109" cy="830997"/>
          </a:xfrm>
        </p:spPr>
        <p:txBody>
          <a:bodyPr>
            <a:normAutofit fontScale="90000"/>
          </a:bodyPr>
          <a:lstStyle/>
          <a:p>
            <a:r>
              <a:rPr lang="en-GB" dirty="0" smtClean="0"/>
              <a:t>Project Description</a:t>
            </a:r>
            <a:br>
              <a:rPr lang="en-GB" dirty="0" smtClean="0"/>
            </a:br>
            <a:r>
              <a:rPr lang="en-GB" dirty="0" smtClean="0"/>
              <a:t/>
            </a:r>
            <a:br>
              <a:rPr lang="en-GB" dirty="0" smtClean="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p:cNvSpPr txBox="1"/>
          <p:nvPr/>
        </p:nvSpPr>
        <p:spPr>
          <a:xfrm>
            <a:off x="278295" y="1080084"/>
            <a:ext cx="11065565" cy="5478423"/>
          </a:xfrm>
          <a:prstGeom prst="rect">
            <a:avLst/>
          </a:prstGeom>
          <a:noFill/>
        </p:spPr>
        <p:txBody>
          <a:bodyPr wrap="square" rtlCol="0">
            <a:spAutoFit/>
          </a:bodyPr>
          <a:lstStyle/>
          <a:p>
            <a:r>
              <a:rPr lang="en-US" sz="2200" b="1" dirty="0"/>
              <a:t>Seasonal Agriculture Performance </a:t>
            </a:r>
            <a:r>
              <a:rPr lang="en-US" sz="2200" b="1" dirty="0" smtClean="0"/>
              <a:t>Analysis:</a:t>
            </a:r>
          </a:p>
          <a:p>
            <a:endParaRPr lang="en-US" sz="2200" b="1" dirty="0"/>
          </a:p>
          <a:p>
            <a:r>
              <a:rPr lang="en-US" b="1" dirty="0"/>
              <a:t>Seasonal Agriculture Performance Analysis</a:t>
            </a:r>
            <a:r>
              <a:rPr lang="en-US" dirty="0"/>
              <a:t> is a data analytics project that examines how agricultural performance varies across different seasons. The project analyzes factors such as </a:t>
            </a:r>
            <a:r>
              <a:rPr lang="en-US" b="1" dirty="0"/>
              <a:t>crop yield, production, rainfall, temperature, soil conditions, fertilizer usage, irrigation, water efficiency, revenue, cost, profit, and disease/pest risk</a:t>
            </a:r>
            <a:r>
              <a:rPr lang="en-US" dirty="0"/>
              <a:t> to identify meaningful seasonal patterns and relationships.</a:t>
            </a:r>
          </a:p>
          <a:p>
            <a:r>
              <a:rPr lang="en-US" dirty="0"/>
              <a:t>Using </a:t>
            </a:r>
            <a:r>
              <a:rPr lang="en-US" b="1" dirty="0"/>
              <a:t>Python, Pandas, </a:t>
            </a:r>
            <a:r>
              <a:rPr lang="en-US" b="1" dirty="0" err="1"/>
              <a:t>NumPy</a:t>
            </a:r>
            <a:r>
              <a:rPr lang="en-US" b="1" dirty="0"/>
              <a:t>, </a:t>
            </a:r>
            <a:r>
              <a:rPr lang="en-US" b="1" dirty="0" err="1"/>
              <a:t>Matplotlib</a:t>
            </a:r>
            <a:r>
              <a:rPr lang="en-US" b="1" dirty="0"/>
              <a:t>, and </a:t>
            </a:r>
            <a:r>
              <a:rPr lang="en-US" b="1" dirty="0" err="1"/>
              <a:t>Seaborn</a:t>
            </a:r>
            <a:r>
              <a:rPr lang="en-US" dirty="0"/>
              <a:t>, the agricultural dataset is cleaned, explored, and visualized through statistical analysis and graphs. The analysis compares </a:t>
            </a:r>
            <a:r>
              <a:rPr lang="en-US" b="1" dirty="0"/>
              <a:t>crops, seasons, regions, and farming practices</a:t>
            </a:r>
            <a:r>
              <a:rPr lang="en-US" dirty="0"/>
              <a:t> to understand which conditions are associated with better productivity, resource efficiency, and profitability</a:t>
            </a:r>
            <a:r>
              <a:rPr lang="en-US" dirty="0" smtClean="0"/>
              <a:t>.</a:t>
            </a:r>
          </a:p>
          <a:p>
            <a:endParaRPr lang="en-US" dirty="0"/>
          </a:p>
          <a:p>
            <a:pPr marL="285750" indent="-285750">
              <a:buFont typeface="Arial" panose="020B0604020202020204" pitchFamily="34" charset="0"/>
              <a:buChar char="•"/>
            </a:pPr>
            <a:r>
              <a:rPr lang="en-US" b="1" dirty="0"/>
              <a:t>Key </a:t>
            </a:r>
            <a:r>
              <a:rPr lang="en-US" b="1" dirty="0" smtClean="0"/>
              <a:t>Objectives</a:t>
            </a:r>
            <a:endParaRPr lang="en-US" b="1" dirty="0"/>
          </a:p>
          <a:p>
            <a:pPr marL="285750" indent="-285750">
              <a:buFont typeface="Wingdings" panose="05000000000000000000" pitchFamily="2" charset="2"/>
              <a:buChar char="Ø"/>
            </a:pPr>
            <a:r>
              <a:rPr lang="en-US" b="1" dirty="0"/>
              <a:t>Analyze seasonal variations</a:t>
            </a:r>
            <a:r>
              <a:rPr lang="en-US" dirty="0"/>
              <a:t> in crop yield, production, revenue, and profit. </a:t>
            </a:r>
          </a:p>
          <a:p>
            <a:pPr marL="285750" indent="-285750">
              <a:buFont typeface="Wingdings" panose="05000000000000000000" pitchFamily="2" charset="2"/>
              <a:buChar char="Ø"/>
            </a:pPr>
            <a:r>
              <a:rPr lang="en-US" b="1" dirty="0"/>
              <a:t>Identify relationships</a:t>
            </a:r>
            <a:r>
              <a:rPr lang="en-US" dirty="0"/>
              <a:t> between environmental conditions, farming practices, and agricultural performance. </a:t>
            </a:r>
          </a:p>
          <a:p>
            <a:pPr marL="285750" indent="-285750">
              <a:buFont typeface="Wingdings" panose="05000000000000000000" pitchFamily="2" charset="2"/>
              <a:buChar char="Ø"/>
            </a:pPr>
            <a:r>
              <a:rPr lang="en-US" b="1" dirty="0" smtClean="0"/>
              <a:t>Compare </a:t>
            </a:r>
            <a:r>
              <a:rPr lang="en-US" b="1" dirty="0"/>
              <a:t>crops, regions, and irrigation methods</a:t>
            </a:r>
            <a:r>
              <a:rPr lang="en-US" dirty="0"/>
              <a:t> to determine better-performing combinations. </a:t>
            </a:r>
          </a:p>
          <a:p>
            <a:pPr marL="285750" indent="-285750">
              <a:buFont typeface="Wingdings" panose="05000000000000000000" pitchFamily="2" charset="2"/>
              <a:buChar char="Ø"/>
            </a:pPr>
            <a:r>
              <a:rPr lang="en-US" b="1" dirty="0"/>
              <a:t>Generate actionable insights</a:t>
            </a:r>
            <a:r>
              <a:rPr lang="en-US" dirty="0"/>
              <a:t> that can support improved resource management and future data-driven agricultural decision-making.</a:t>
            </a:r>
          </a:p>
          <a:p>
            <a:endParaRPr lang="en-US"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7" name="Text Placeholder 6"/>
          <p:cNvSpPr>
            <a:spLocks noGrp="1"/>
          </p:cNvSpPr>
          <p:nvPr>
            <p:ph type="body" sz="quarter" idx="12"/>
          </p:nvPr>
        </p:nvSpPr>
        <p:spPr>
          <a:xfrm>
            <a:off x="660399" y="2044700"/>
            <a:ext cx="10829235" cy="3560763"/>
          </a:xfrm>
        </p:spPr>
        <p:txBody>
          <a:bodyPr/>
          <a:lstStyle/>
          <a:p>
            <a:r>
              <a:rPr lang="en-US" b="1" dirty="0"/>
              <a:t>Crop &amp; Season Insights</a:t>
            </a:r>
            <a:r>
              <a:rPr lang="en-US" dirty="0"/>
              <a:t> – Identifies the best-performing crops and seasons based on yield and productivity</a:t>
            </a:r>
            <a:r>
              <a:rPr lang="en-US" dirty="0" smtClean="0"/>
              <a:t>.</a:t>
            </a:r>
          </a:p>
          <a:p>
            <a:r>
              <a:rPr lang="en-US" b="1" dirty="0"/>
              <a:t>Resource Optimization</a:t>
            </a:r>
            <a:r>
              <a:rPr lang="en-US" dirty="0"/>
              <a:t> – Analyzes irrigation, rainfall, fertilizer usage, and water efficiency to support better resource management</a:t>
            </a:r>
            <a:r>
              <a:rPr lang="en-US" dirty="0" smtClean="0"/>
              <a:t>.</a:t>
            </a:r>
          </a:p>
          <a:p>
            <a:r>
              <a:rPr lang="en-US" b="1" dirty="0"/>
              <a:t>Profitability Analysis</a:t>
            </a:r>
            <a:r>
              <a:rPr lang="en-US" dirty="0"/>
              <a:t> – Provides revenue, production cost, and profit insights to help users make financially informed farming </a:t>
            </a:r>
            <a:r>
              <a:rPr lang="en-US" dirty="0" smtClean="0"/>
              <a:t>decisions</a:t>
            </a:r>
          </a:p>
          <a:p>
            <a:r>
              <a:rPr lang="en-US" b="1" dirty="0"/>
              <a:t>Risk &amp; Performance Monitoring</a:t>
            </a:r>
            <a:r>
              <a:rPr lang="en-US" dirty="0"/>
              <a:t> – Highlights disease/pest risks and regional performance through easy-to-understand charts and analytics</a:t>
            </a:r>
            <a:r>
              <a:rPr lang="en-US" dirty="0" smtClean="0"/>
              <a:t>.</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US" dirty="0"/>
              <a:t>Python: Core programming language used for the </a:t>
            </a:r>
            <a:r>
              <a:rPr lang="en-US" dirty="0" smtClean="0"/>
              <a:t>analysis</a:t>
            </a:r>
          </a:p>
          <a:p>
            <a:pPr lvl="1">
              <a:lnSpc>
                <a:spcPct val="150000"/>
              </a:lnSpc>
            </a:pPr>
            <a:r>
              <a:rPr lang="en-US" dirty="0"/>
              <a:t>Pandas: Used for data loading, cleaning, transformation, and grouping</a:t>
            </a:r>
            <a:r>
              <a:rPr lang="en-US" dirty="0" smtClean="0"/>
              <a:t>.</a:t>
            </a:r>
          </a:p>
          <a:p>
            <a:pPr lvl="1">
              <a:lnSpc>
                <a:spcPct val="150000"/>
              </a:lnSpc>
            </a:pPr>
            <a:r>
              <a:rPr lang="en-US" dirty="0" err="1"/>
              <a:t>NumPy</a:t>
            </a:r>
            <a:r>
              <a:rPr lang="en-US" dirty="0"/>
              <a:t>: Used for numerical operations and calculations. </a:t>
            </a:r>
            <a:endParaRPr lang="en-US" dirty="0" smtClean="0"/>
          </a:p>
          <a:p>
            <a:pPr lvl="1">
              <a:lnSpc>
                <a:spcPct val="150000"/>
              </a:lnSpc>
            </a:pPr>
            <a:r>
              <a:rPr lang="en-US" dirty="0" err="1"/>
              <a:t>Matplotlib</a:t>
            </a:r>
            <a:r>
              <a:rPr lang="en-US" dirty="0"/>
              <a:t>: Base plotting library used for charts (histograms, scatter plots, bar charts</a:t>
            </a:r>
            <a:r>
              <a:rPr lang="en-US" dirty="0" smtClean="0"/>
              <a:t>).</a:t>
            </a:r>
          </a:p>
          <a:p>
            <a:pPr lvl="1">
              <a:lnSpc>
                <a:spcPct val="150000"/>
              </a:lnSpc>
            </a:pPr>
            <a:r>
              <a:rPr lang="en-US" dirty="0" err="1"/>
              <a:t>Seaborn</a:t>
            </a:r>
            <a:r>
              <a:rPr lang="en-US" dirty="0"/>
              <a:t>: Used for statistical visualizations including the correlation </a:t>
            </a:r>
            <a:r>
              <a:rPr lang="en-US" dirty="0" err="1"/>
              <a:t>heatmap</a:t>
            </a:r>
            <a:r>
              <a:rPr lang="en-US" dirty="0" smtClean="0"/>
              <a:t>.</a:t>
            </a:r>
          </a:p>
          <a:p>
            <a:pPr lvl="1">
              <a:lnSpc>
                <a:spcPct val="150000"/>
              </a:lnSpc>
            </a:pPr>
            <a:r>
              <a:rPr lang="en-US" dirty="0"/>
              <a:t>Google </a:t>
            </a:r>
            <a:r>
              <a:rPr lang="en-US" dirty="0" err="1"/>
              <a:t>Colab</a:t>
            </a:r>
            <a:r>
              <a:rPr lang="en-US" dirty="0"/>
              <a:t> / Jupyter Notebook: Cloud-based notebook environment used to run the full analysis.</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98424"/>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7246" t="23639" r="39789" b="19651"/>
          <a:stretch/>
        </p:blipFill>
        <p:spPr>
          <a:xfrm>
            <a:off x="6758609" y="172278"/>
            <a:ext cx="5327373" cy="3207027"/>
          </a:xfrm>
          <a:prstGeom prst="rect">
            <a:avLst/>
          </a:prstGeom>
        </p:spPr>
      </p:pic>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5929" t="23170" r="26877" b="15433"/>
          <a:stretch/>
        </p:blipFill>
        <p:spPr>
          <a:xfrm>
            <a:off x="0" y="3445565"/>
            <a:ext cx="6758609" cy="3472070"/>
          </a:xfrm>
          <a:prstGeom prst="rect">
            <a:avLst/>
          </a:prstGeom>
        </p:spPr>
      </p:pic>
      <p:pic>
        <p:nvPicPr>
          <p:cNvPr id="9" name="Picture 8"/>
          <p:cNvPicPr>
            <a:picLocks noChangeAspect="1"/>
          </p:cNvPicPr>
          <p:nvPr/>
        </p:nvPicPr>
        <p:blipFill rotWithShape="1">
          <a:blip r:embed="rId5">
            <a:extLst>
              <a:ext uri="{28A0092B-C50C-407E-A947-70E740481C1C}">
                <a14:useLocalDpi xmlns:a14="http://schemas.microsoft.com/office/drawing/2010/main" val="0"/>
              </a:ext>
            </a:extLst>
          </a:blip>
          <a:srcRect l="6719" t="24342" r="49934" b="18948"/>
          <a:stretch/>
        </p:blipFill>
        <p:spPr>
          <a:xfrm>
            <a:off x="7242312" y="3578086"/>
            <a:ext cx="4359965" cy="320702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675957" y="1201586"/>
            <a:ext cx="7811590" cy="484890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stretch>
            <a:fillRect/>
          </a:stretch>
        </p:blipFill>
        <p:spPr>
          <a:xfrm>
            <a:off x="320982" y="1275371"/>
            <a:ext cx="7640116" cy="479174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stretch>
            <a:fillRect/>
          </a:stretch>
        </p:blipFill>
        <p:spPr>
          <a:xfrm>
            <a:off x="466087" y="1102261"/>
            <a:ext cx="7078063" cy="4629796"/>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stretch>
            <a:fillRect/>
          </a:stretch>
        </p:blipFill>
        <p:spPr>
          <a:xfrm>
            <a:off x="1305040" y="1422204"/>
            <a:ext cx="7249537" cy="478221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44084"/>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328380"/>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p:cNvSpPr txBox="1"/>
          <p:nvPr/>
        </p:nvSpPr>
        <p:spPr>
          <a:xfrm>
            <a:off x="795130" y="1608410"/>
            <a:ext cx="9170505" cy="383181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b="1" dirty="0"/>
              <a:t>AI-Based Yield Prediction</a:t>
            </a:r>
            <a:r>
              <a:rPr lang="en-US" dirty="0"/>
              <a:t> – Develop machine-learning models to predict crop yield using soil, weather, irrigation, and fertilizer data</a:t>
            </a:r>
            <a:r>
              <a:rPr lang="en-US" dirty="0" smtClean="0"/>
              <a:t>.</a:t>
            </a:r>
          </a:p>
          <a:p>
            <a:pPr marL="285750" indent="-285750">
              <a:lnSpc>
                <a:spcPct val="150000"/>
              </a:lnSpc>
              <a:buFont typeface="Arial" panose="020B0604020202020204" pitchFamily="34" charset="0"/>
              <a:buChar char="•"/>
            </a:pPr>
            <a:r>
              <a:rPr lang="en-US" b="1" dirty="0"/>
              <a:t>Smart Crop Recommendation</a:t>
            </a:r>
            <a:r>
              <a:rPr lang="en-US" dirty="0"/>
              <a:t> – Recommend the most suitable crop, season, and farming practices based on local environmental conditions</a:t>
            </a:r>
            <a:r>
              <a:rPr lang="en-US" dirty="0" smtClean="0"/>
              <a:t>.</a:t>
            </a:r>
          </a:p>
          <a:p>
            <a:pPr marL="285750" indent="-285750">
              <a:lnSpc>
                <a:spcPct val="150000"/>
              </a:lnSpc>
              <a:buFont typeface="Arial" panose="020B0604020202020204" pitchFamily="34" charset="0"/>
              <a:buChar char="•"/>
            </a:pPr>
            <a:r>
              <a:rPr lang="en-US" b="1" dirty="0"/>
              <a:t>Real-Time IoT Monitoring</a:t>
            </a:r>
            <a:r>
              <a:rPr lang="en-US" dirty="0"/>
              <a:t> – Integrate IoT sensors to continuously monitor soil moisture, temperature, humidity, rainfall, and crop conditions</a:t>
            </a:r>
            <a:r>
              <a:rPr lang="en-US" dirty="0" smtClean="0"/>
              <a:t>.</a:t>
            </a:r>
          </a:p>
          <a:p>
            <a:pPr marL="285750" indent="-285750">
              <a:lnSpc>
                <a:spcPct val="150000"/>
              </a:lnSpc>
              <a:buFont typeface="Arial" panose="020B0604020202020204" pitchFamily="34" charset="0"/>
              <a:buChar char="•"/>
            </a:pPr>
            <a:r>
              <a:rPr lang="en-US" b="1" dirty="0"/>
              <a:t>Interactive Decision-Support Dashboard</a:t>
            </a:r>
            <a:r>
              <a:rPr lang="en-US" dirty="0"/>
              <a:t> – Build a web/mobile application that provides real-time predictions, profit estimates, disease-risk alerts, and personalized recommendations to farmers.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hlinkClick r:id="rId3"/>
              </a:rPr>
              <a:t>https://</a:t>
            </a:r>
            <a:r>
              <a:rPr lang="en-US" dirty="0" smtClean="0">
                <a:hlinkClick r:id="rId3"/>
              </a:rPr>
              <a:t>github.com/Srianjun26</a:t>
            </a:r>
            <a:endParaRPr lang="en-US" dirty="0" smtClean="0"/>
          </a:p>
          <a:p>
            <a:r>
              <a:rPr lang="en-US" dirty="0" smtClean="0">
                <a:hlinkClick r:id="rId3"/>
              </a:rPr>
              <a:t>Srianjun26 </a:t>
            </a:r>
            <a:r>
              <a:rPr lang="en-US" dirty="0">
                <a:hlinkClick r:id="rId3"/>
              </a:rPr>
              <a:t>(Sri Anjun) · </a:t>
            </a:r>
            <a:r>
              <a:rPr lang="en-US" dirty="0" smtClean="0">
                <a:hlinkClick r:id="rId3"/>
              </a:rPr>
              <a:t>GitHub</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9310" y="1391479"/>
            <a:ext cx="7716327" cy="535200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16c05727-aa75-4e4a-9b5f-8a80a1165891"/>
    <ds:schemaRef ds:uri="http://purl.org/dc/dcmitype/"/>
    <ds:schemaRef ds:uri="http://schemas.microsoft.com/office/2006/documentManagement/types"/>
    <ds:schemaRef ds:uri="http://schemas.openxmlformats.org/package/2006/metadata/core-properties"/>
    <ds:schemaRef ds:uri="http://purl.org/dc/terms/"/>
    <ds:schemaRef ds:uri="http://purl.org/dc/elements/1.1/"/>
    <ds:schemaRef ds:uri="http://www.w3.org/XML/1998/namespace"/>
    <ds:schemaRef ds:uri="http://schemas.microsoft.com/office/infopath/2007/PartnerControls"/>
    <ds:schemaRef ds:uri="71af3243-3dd4-4a8d-8c0d-dd76da1f02a5"/>
    <ds:schemaRef ds:uri="http://schemas.microsoft.com/office/2006/metadata/propertie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1464</TotalTime>
  <Words>572</Words>
  <Application>Microsoft Office PowerPoint</Application>
  <PresentationFormat>Widescreen</PresentationFormat>
  <Paragraphs>47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user</cp:lastModifiedBy>
  <cp:revision>103</cp:revision>
  <dcterms:created xsi:type="dcterms:W3CDTF">2021-07-11T13:13:15Z</dcterms:created>
  <dcterms:modified xsi:type="dcterms:W3CDTF">2026-09-15T13:38:39Z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